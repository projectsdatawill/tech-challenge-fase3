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74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8978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7B1E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201168" y="0"/>
            <a:ext cx="36576" cy="5143500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411480" y="54864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STATE OF DATA BRASIL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1261872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9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do Mercado Brasileiro de Dados, Analytics e Inteligência Artificial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783080"/>
            <a:ext cx="8412480" cy="22860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411480" y="1920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— Fase 3  ·  Big Data to Analytics  ·  POSTECH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242316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7B1E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502920" y="2450592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3 anos de dados (2021–2023)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83280" y="242316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7B1E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3474720" y="2450592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Pipeline AWS: S3 · Glue · Athena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00800" y="242316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7B1E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6492240" y="2450592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 Arquitetura Bronze → Silver → Gold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2999232"/>
            <a:ext cx="36576" cy="228600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 txBox="1"/>
          <p:nvPr/>
        </p:nvSpPr>
        <p:spPr>
          <a:xfrm>
            <a:off x="566928" y="2962656"/>
            <a:ext cx="8321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dos profissionais de tecnologia e dados no Brasil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3355848"/>
            <a:ext cx="36576" cy="228600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566928" y="3319272"/>
            <a:ext cx="8321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Tendências de remuneração, senioridade e modelo de trabalho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11480" y="3712464"/>
            <a:ext cx="36576" cy="228600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 txBox="1"/>
          <p:nvPr/>
        </p:nvSpPr>
        <p:spPr>
          <a:xfrm>
            <a:off x="566928" y="3675888"/>
            <a:ext cx="8321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Diversidade de gênero e racial no mercado de dados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1480" y="4069080"/>
            <a:ext cx="36576" cy="228600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 txBox="1"/>
          <p:nvPr/>
        </p:nvSpPr>
        <p:spPr>
          <a:xfrm>
            <a:off x="566928" y="4032504"/>
            <a:ext cx="8321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Adoção de Inteligência Artificial e impacto na carreira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11480" y="4425696"/>
            <a:ext cx="36576" cy="228600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 txBox="1"/>
          <p:nvPr/>
        </p:nvSpPr>
        <p:spPr>
          <a:xfrm>
            <a:off x="566928" y="4389120"/>
            <a:ext cx="8321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Recomendações estratégicas para contratação e capacitação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7B1E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274320" y="73152"/>
            <a:ext cx="8595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e Objetivo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585216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analisar o mercado de dados brasileiro?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4206240" cy="3977640"/>
          </a:xfrm>
          <a:prstGeom prst="roundRect">
            <a:avLst>
              <a:gd name="adj" fmla="val 1379"/>
            </a:avLst>
          </a:prstGeom>
          <a:solidFill>
            <a:srgbClr val="320D1A"/>
          </a:solidFill>
          <a:ln w="12700">
            <a:solidFill>
              <a:srgbClr val="7B1E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457200" y="1051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Cliente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3840480" cy="22860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457200" y="1463040"/>
            <a:ext cx="38404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Instituição Financeira de grande porte com planos de expansão em Dados, Analytics e IA.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Necessidades identificadas: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Definir estratégia de contratação de profissionais de dados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Criar programa de capacitação alinhado ao mercado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Priorizar investimentos em tecnologias com maior adoção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Entender gaps de diversidade e oportunidades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932688"/>
            <a:ext cx="4206240" cy="3977640"/>
          </a:xfrm>
          <a:prstGeom prst="roundRect">
            <a:avLst>
              <a:gd name="adj" fmla="val 1379"/>
            </a:avLst>
          </a:prstGeom>
          <a:solidFill>
            <a:srgbClr val="320D1A"/>
          </a:solidFill>
          <a:ln w="12700">
            <a:solidFill>
              <a:srgbClr val="7B1E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4846320" y="1051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Fonte de Dados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46320" y="1371600"/>
            <a:ext cx="3840480" cy="22860"/>
          </a:xfrm>
          <a:prstGeom prst="rect">
            <a:avLst/>
          </a:prstGeom>
          <a:solidFill>
            <a:srgbClr val="D97A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4846320" y="1508760"/>
            <a:ext cx="1828800" cy="822960"/>
          </a:xfrm>
          <a:prstGeom prst="roundRect">
            <a:avLst>
              <a:gd name="adj" fmla="val 6667"/>
            </a:avLst>
          </a:prstGeom>
          <a:solidFill>
            <a:srgbClr val="7B1E3A"/>
          </a:solidFill>
          <a:ln w="6350">
            <a:solidFill>
              <a:srgbClr val="7B1E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4846320" y="1545336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+12k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00253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respondentes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903720" y="1508760"/>
            <a:ext cx="1828800" cy="822960"/>
          </a:xfrm>
          <a:prstGeom prst="roundRect">
            <a:avLst>
              <a:gd name="adj" fmla="val 6667"/>
            </a:avLst>
          </a:prstGeom>
          <a:solidFill>
            <a:srgbClr val="7B1E3A"/>
          </a:solidFill>
          <a:ln w="6350">
            <a:solidFill>
              <a:srgbClr val="7B1E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 txBox="1"/>
          <p:nvPr/>
        </p:nvSpPr>
        <p:spPr>
          <a:xfrm>
            <a:off x="6903720" y="1545336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903720" y="200253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edições analisadas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846320" y="2514600"/>
            <a:ext cx="1828800" cy="822960"/>
          </a:xfrm>
          <a:prstGeom prst="roundRect">
            <a:avLst>
              <a:gd name="adj" fmla="val 6667"/>
            </a:avLst>
          </a:prstGeom>
          <a:solidFill>
            <a:srgbClr val="7B1E3A"/>
          </a:solidFill>
          <a:ln w="6350">
            <a:solidFill>
              <a:srgbClr val="7B1E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 txBox="1"/>
          <p:nvPr/>
        </p:nvSpPr>
        <p:spPr>
          <a:xfrm>
            <a:off x="4846320" y="2551176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50+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846320" y="300837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por respondente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903720" y="2514600"/>
            <a:ext cx="1828800" cy="822960"/>
          </a:xfrm>
          <a:prstGeom prst="roundRect">
            <a:avLst>
              <a:gd name="adj" fmla="val 6667"/>
            </a:avLst>
          </a:prstGeom>
          <a:solidFill>
            <a:srgbClr val="7B1E3A"/>
          </a:solidFill>
          <a:ln w="6350">
            <a:solidFill>
              <a:srgbClr val="7B1E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 txBox="1"/>
          <p:nvPr/>
        </p:nvSpPr>
        <p:spPr>
          <a:xfrm>
            <a:off x="6903720" y="2551176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100%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6903720" y="300837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públicos (Kaggle)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4846320" y="342900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Data Brasil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Hackers + Bain &amp; Company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anual com profissionais de Dados sobre: cargo, salário, tecnologias, senioridade, diversidade, modelo de trabalho e adoção de IA.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Edições: 2021 · 2022 · 2023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7B1E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274320" y="73152"/>
            <a:ext cx="8595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da Solução AWS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585216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completo: ingestão → Bronze → Silver → Gold → consumo analítico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355080" y="960120"/>
            <a:ext cx="2560320" cy="868680"/>
          </a:xfrm>
          <a:prstGeom prst="roundRect">
            <a:avLst>
              <a:gd name="adj" fmla="val 6316"/>
            </a:avLst>
          </a:prstGeom>
          <a:solidFill>
            <a:srgbClr val="320D1A"/>
          </a:solidFill>
          <a:ln w="12700">
            <a:solidFill>
              <a:srgbClr val="9E8A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 txBox="1"/>
          <p:nvPr/>
        </p:nvSpPr>
        <p:spPr>
          <a:xfrm>
            <a:off x="6492240" y="101498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492240" y="1289304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brutos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original do Kaggle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355080" y="1947672"/>
            <a:ext cx="2560320" cy="868680"/>
          </a:xfrm>
          <a:prstGeom prst="roundRect">
            <a:avLst>
              <a:gd name="adj" fmla="val 6316"/>
            </a:avLst>
          </a:prstGeom>
          <a:solidFill>
            <a:srgbClr val="320D1A"/>
          </a:solidFill>
          <a:ln w="12700">
            <a:solidFill>
              <a:srgbClr val="D97A8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 txBox="1"/>
          <p:nvPr/>
        </p:nvSpPr>
        <p:spPr>
          <a:xfrm>
            <a:off x="6492240" y="200253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492240" y="2276856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limpos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consolidado 2021–2023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355080" y="2935224"/>
            <a:ext cx="2560320" cy="868680"/>
          </a:xfrm>
          <a:prstGeom prst="roundRect">
            <a:avLst>
              <a:gd name="adj" fmla="val 6316"/>
            </a:avLst>
          </a:prstGeom>
          <a:solidFill>
            <a:srgbClr val="320D1A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 txBox="1"/>
          <p:nvPr/>
        </p:nvSpPr>
        <p:spPr>
          <a:xfrm>
            <a:off x="6492240" y="29900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6492240" y="3264408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Agregações analíticas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por tema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355080" y="3922776"/>
            <a:ext cx="2560320" cy="868680"/>
          </a:xfrm>
          <a:prstGeom prst="roundRect">
            <a:avLst>
              <a:gd name="adj" fmla="val 6316"/>
            </a:avLst>
          </a:prstGeom>
          <a:solidFill>
            <a:srgbClr val="320D1A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 txBox="1"/>
          <p:nvPr/>
        </p:nvSpPr>
        <p:spPr>
          <a:xfrm>
            <a:off x="6492240" y="3977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6492240" y="4251960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Athena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SQL + insights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Serviços AWS utilizados: Amazon S3 · AWS Glue (Crawler + Jobs PySpark) · Amazon Athena · AWS Glue Data Catalog</a:t>
            </a:r>
            <a:endParaRPr lang="en-US" sz="750" dirty="0"/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ED79C9D9-BC54-F6C8-17FD-38CD98A022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9486" y="1056809"/>
            <a:ext cx="3619554" cy="373464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7B1E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274320" y="73152"/>
            <a:ext cx="8595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do Mercado de Dados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585216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de cargos — evolução 2021 e 2022</a:t>
            </a:r>
            <a:endParaRPr lang="en-US" sz="1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96112"/>
            <a:ext cx="6187440" cy="3931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37960" y="896112"/>
            <a:ext cx="2377440" cy="4069080"/>
          </a:xfrm>
          <a:prstGeom prst="roundRect">
            <a:avLst>
              <a:gd name="adj" fmla="val 2308"/>
            </a:avLst>
          </a:prstGeom>
          <a:solidFill>
            <a:srgbClr val="320D1A"/>
          </a:solidFill>
          <a:ln w="1016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 txBox="1"/>
          <p:nvPr/>
        </p:nvSpPr>
        <p:spPr>
          <a:xfrm>
            <a:off x="6675120" y="100584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Destaques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675120" y="1298448"/>
            <a:ext cx="2103120" cy="18288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 txBox="1"/>
          <p:nvPr/>
        </p:nvSpPr>
        <p:spPr>
          <a:xfrm>
            <a:off x="6675120" y="13716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Analista de Dados lidera em 2022 (+97%)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6675120" y="1975104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Engineer cresce 63% em 1 ano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6675120" y="2578608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Analytics Engineer surge como novo perfil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6675120" y="3182112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Cientista de Dados mantém alta demanda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6675120" y="3785616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ML Engineer ainda é nicho especializado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Data Brasil 2021–2022 · Data Hackers + Bain &amp; Company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7B1E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274320" y="73152"/>
            <a:ext cx="8595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por Senioridade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585216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 do mercado entre 2021 e 2023</a:t>
            </a:r>
            <a:endParaRPr lang="en-US" sz="1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96112"/>
            <a:ext cx="6126480" cy="3931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37960" y="896112"/>
            <a:ext cx="2377440" cy="4069080"/>
          </a:xfrm>
          <a:prstGeom prst="roundRect">
            <a:avLst>
              <a:gd name="adj" fmla="val 2308"/>
            </a:avLst>
          </a:prstGeom>
          <a:solidFill>
            <a:srgbClr val="320D1A"/>
          </a:solidFill>
          <a:ln w="10160">
            <a:solidFill>
              <a:srgbClr val="D97A8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 txBox="1"/>
          <p:nvPr/>
        </p:nvSpPr>
        <p:spPr>
          <a:xfrm>
            <a:off x="6675120" y="100584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Destaques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675120" y="1298448"/>
            <a:ext cx="2103120" cy="18288"/>
          </a:xfrm>
          <a:prstGeom prst="rect">
            <a:avLst/>
          </a:prstGeom>
          <a:solidFill>
            <a:srgbClr val="D97A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 txBox="1"/>
          <p:nvPr/>
        </p:nvSpPr>
        <p:spPr>
          <a:xfrm>
            <a:off x="6675120" y="13716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Mercado cresceu ~70% entre 2021 e 2023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6675120" y="1975104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Sênior ultrapassa Pleno em 2023 pela 1ª vez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6675120" y="2578608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Júnior cresceu +69% de 2021 para 2022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6675120" y="3182112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Mercado amadurecendo rapidamente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6675120" y="3785616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Alta demanda em todos os níveis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Data Brasil 2021–2023 · Data Hackers + Bain &amp; Company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7B1E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274320" y="73152"/>
            <a:ext cx="8595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Remuneração por Senioridade — 2023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585216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Faixas salariais por nível de experiência</a:t>
            </a:r>
            <a:endParaRPr lang="en-US" sz="1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96112"/>
            <a:ext cx="6400800" cy="3931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37960" y="896112"/>
            <a:ext cx="2377440" cy="4069080"/>
          </a:xfrm>
          <a:prstGeom prst="roundRect">
            <a:avLst>
              <a:gd name="adj" fmla="val 2308"/>
            </a:avLst>
          </a:prstGeom>
          <a:solidFill>
            <a:srgbClr val="320D1A"/>
          </a:solidFill>
          <a:ln w="1016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 txBox="1"/>
          <p:nvPr/>
        </p:nvSpPr>
        <p:spPr>
          <a:xfrm>
            <a:off x="6675120" y="100584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Destaques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675120" y="1298448"/>
            <a:ext cx="2103120" cy="18288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 txBox="1"/>
          <p:nvPr/>
        </p:nvSpPr>
        <p:spPr>
          <a:xfrm>
            <a:off x="6675120" y="13716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Júnior: mediana entre R$2–6k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6675120" y="1975104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Pleno: concentração em R$6–12k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6675120" y="2578608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Sênior: foco em R$8–16k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6675120" y="3182112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Gap Júnior → Sênior: ~3x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6675120" y="3785616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Sênior pode superar R$40k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Data Brasil 2023 · Data Hackers + Bain &amp; Company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7B1E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274320" y="73152"/>
            <a:ext cx="8595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Diversidade de Gênero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585216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 da participação feminina no mercado de dados (2021–2023)</a:t>
            </a:r>
            <a:endParaRPr lang="en-US" sz="1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96112"/>
            <a:ext cx="5984240" cy="3931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37960" y="896112"/>
            <a:ext cx="2377440" cy="1188720"/>
          </a:xfrm>
          <a:prstGeom prst="roundRect">
            <a:avLst>
              <a:gd name="adj" fmla="val 4615"/>
            </a:avLst>
          </a:prstGeom>
          <a:solidFill>
            <a:srgbClr val="3D0F1E"/>
          </a:solidFill>
          <a:ln w="12700">
            <a:solidFill>
              <a:srgbClr val="D97A8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 txBox="1"/>
          <p:nvPr/>
        </p:nvSpPr>
        <p:spPr>
          <a:xfrm>
            <a:off x="6537960" y="969264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97A8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18.6%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6629400" y="16459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mulheres em 2021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537960" y="2176272"/>
            <a:ext cx="2377440" cy="1188720"/>
          </a:xfrm>
          <a:prstGeom prst="roundRect">
            <a:avLst>
              <a:gd name="adj" fmla="val 4615"/>
            </a:avLst>
          </a:prstGeom>
          <a:solidFill>
            <a:srgbClr val="3D0F1E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 txBox="1"/>
          <p:nvPr/>
        </p:nvSpPr>
        <p:spPr>
          <a:xfrm>
            <a:off x="6537960" y="2249424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9A44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24.4%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6629400" y="29260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mulheres em 2023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537960" y="3456432"/>
            <a:ext cx="2377440" cy="1188720"/>
          </a:xfrm>
          <a:prstGeom prst="roundRect">
            <a:avLst>
              <a:gd name="adj" fmla="val 4615"/>
            </a:avLst>
          </a:prstGeom>
          <a:solidFill>
            <a:srgbClr val="3D0F1E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 txBox="1"/>
          <p:nvPr/>
        </p:nvSpPr>
        <p:spPr>
          <a:xfrm>
            <a:off x="6537960" y="3529584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4ADE8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+31%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6629400" y="42062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em 3 anos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Data Brasil 2021–2023 · Data Hackers + Bain &amp; Company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7B1E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274320" y="73152"/>
            <a:ext cx="8595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Diversidade Racial — 2023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585216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por cor/raça/etnia entre profissionais de dados</a:t>
            </a:r>
            <a:endParaRPr lang="en-US" sz="1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96112"/>
            <a:ext cx="6065520" cy="3931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37960" y="896112"/>
            <a:ext cx="2377440" cy="4069080"/>
          </a:xfrm>
          <a:prstGeom prst="roundRect">
            <a:avLst>
              <a:gd name="adj" fmla="val 2308"/>
            </a:avLst>
          </a:prstGeom>
          <a:solidFill>
            <a:srgbClr val="320D1A"/>
          </a:solidFill>
          <a:ln w="10160">
            <a:solidFill>
              <a:srgbClr val="D97A8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 txBox="1"/>
          <p:nvPr/>
        </p:nvSpPr>
        <p:spPr>
          <a:xfrm>
            <a:off x="6675120" y="100584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Destaques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675120" y="1298448"/>
            <a:ext cx="2103120" cy="18288"/>
          </a:xfrm>
          <a:prstGeom prst="rect">
            <a:avLst/>
          </a:prstGeom>
          <a:solidFill>
            <a:srgbClr val="D97A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 txBox="1"/>
          <p:nvPr/>
        </p:nvSpPr>
        <p:spPr>
          <a:xfrm>
            <a:off x="6675120" y="13716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Brancos: ~59% dos respondentes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6675120" y="1975104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Pardos: ~27% — crescendo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6675120" y="2578608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Pretos: ~8% — sub-representados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6675120" y="3182112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Brasil pop. negra: ~56% (IBGE)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6675120" y="3785616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Gap significativo vs. população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Data Brasil 2023 · Data Hackers + Bain &amp; Company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7B1E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274320" y="73152"/>
            <a:ext cx="8595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Trabalho — Pós-Pandemia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585216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Profissionais de dados como pioneiros do trabalho remoto em 2021</a:t>
            </a:r>
            <a:endParaRPr lang="en-US" sz="1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896112"/>
            <a:ext cx="4846320" cy="3931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532120" y="896112"/>
            <a:ext cx="3337560" cy="868680"/>
          </a:xfrm>
          <a:prstGeom prst="roundRect">
            <a:avLst>
              <a:gd name="adj" fmla="val 6316"/>
            </a:avLst>
          </a:prstGeom>
          <a:solidFill>
            <a:srgbClr val="320D1A"/>
          </a:solidFill>
          <a:ln w="1016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 txBox="1"/>
          <p:nvPr/>
        </p:nvSpPr>
        <p:spPr>
          <a:xfrm>
            <a:off x="5577840" y="969264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0A5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60%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6510528" y="1005840"/>
            <a:ext cx="27432" cy="566928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 txBox="1"/>
          <p:nvPr/>
        </p:nvSpPr>
        <p:spPr>
          <a:xfrm>
            <a:off x="6601968" y="1005840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trabalhavam 100% remoto em 2021 — pioneiros no mercado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532120" y="1883664"/>
            <a:ext cx="3337560" cy="868680"/>
          </a:xfrm>
          <a:prstGeom prst="roundRect">
            <a:avLst>
              <a:gd name="adj" fmla="val 6316"/>
            </a:avLst>
          </a:prstGeom>
          <a:solidFill>
            <a:srgbClr val="320D1A"/>
          </a:solidFill>
          <a:ln w="1016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 txBox="1"/>
          <p:nvPr/>
        </p:nvSpPr>
        <p:spPr>
          <a:xfrm>
            <a:off x="5577840" y="1956816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9A44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21%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6510528" y="1993392"/>
            <a:ext cx="27432" cy="566928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 txBox="1"/>
          <p:nvPr/>
        </p:nvSpPr>
        <p:spPr>
          <a:xfrm>
            <a:off x="6601968" y="1993392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modelo híbrido flexível — já adotavam antes de virar tendência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532120" y="2871216"/>
            <a:ext cx="3337560" cy="868680"/>
          </a:xfrm>
          <a:prstGeom prst="roundRect">
            <a:avLst>
              <a:gd name="adj" fmla="val 6316"/>
            </a:avLst>
          </a:prstGeom>
          <a:solidFill>
            <a:srgbClr val="320D1A"/>
          </a:solidFill>
          <a:ln w="10160">
            <a:solidFill>
              <a:srgbClr val="D97A8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 txBox="1"/>
          <p:nvPr/>
        </p:nvSpPr>
        <p:spPr>
          <a:xfrm>
            <a:off x="5577840" y="2944368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97A8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15%</a:t>
            </a:r>
            <a:endParaRPr lang="en-US" sz="2400" dirty="0"/>
          </a:p>
        </p:txBody>
      </p:sp>
      <p:sp>
        <p:nvSpPr>
          <p:cNvPr id="16" name="Shape 13"/>
          <p:cNvSpPr/>
          <p:nvPr/>
        </p:nvSpPr>
        <p:spPr>
          <a:xfrm>
            <a:off x="6510528" y="2980944"/>
            <a:ext cx="27432" cy="566928"/>
          </a:xfrm>
          <a:prstGeom prst="rect">
            <a:avLst/>
          </a:prstGeom>
          <a:solidFill>
            <a:srgbClr val="D97A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 txBox="1"/>
          <p:nvPr/>
        </p:nvSpPr>
        <p:spPr>
          <a:xfrm>
            <a:off x="6601968" y="2980944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presencial — menor percentual de qualquer setor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532120" y="3858768"/>
            <a:ext cx="3337560" cy="868680"/>
          </a:xfrm>
          <a:prstGeom prst="roundRect">
            <a:avLst>
              <a:gd name="adj" fmla="val 6316"/>
            </a:avLst>
          </a:prstGeom>
          <a:solidFill>
            <a:srgbClr val="320D1A"/>
          </a:solidFill>
          <a:ln w="1016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 txBox="1"/>
          <p:nvPr/>
        </p:nvSpPr>
        <p:spPr>
          <a:xfrm>
            <a:off x="5577840" y="3931920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ADE8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#1</a:t>
            </a:r>
            <a:endParaRPr lang="en-US" sz="2400" dirty="0"/>
          </a:p>
        </p:txBody>
      </p:sp>
      <p:sp>
        <p:nvSpPr>
          <p:cNvPr id="20" name="Shape 17"/>
          <p:cNvSpPr/>
          <p:nvPr/>
        </p:nvSpPr>
        <p:spPr>
          <a:xfrm>
            <a:off x="6510528" y="3968496"/>
            <a:ext cx="27432" cy="566928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 txBox="1"/>
          <p:nvPr/>
        </p:nvSpPr>
        <p:spPr>
          <a:xfrm>
            <a:off x="6601968" y="3968496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ao presencial é o principal motivo de insatisfação e pedido de demissão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Data Brasil 2021 · Data Hackers + Bain &amp; Company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7B1E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274320" y="73152"/>
            <a:ext cx="8595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Adoção de Inteligência Artificial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585216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generativa como acelerador no mercado de dados — 2023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011680" cy="1417320"/>
          </a:xfrm>
          <a:prstGeom prst="roundRect">
            <a:avLst>
              <a:gd name="adj" fmla="val 3871"/>
            </a:avLst>
          </a:prstGeom>
          <a:solidFill>
            <a:srgbClr val="320D1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274320" y="1024128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60A5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~70%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175564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usam IA no trabalho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alguma ferramenta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87168" y="960120"/>
            <a:ext cx="2011680" cy="1417320"/>
          </a:xfrm>
          <a:prstGeom prst="roundRect">
            <a:avLst>
              <a:gd name="adj" fmla="val 3871"/>
            </a:avLst>
          </a:prstGeom>
          <a:solidFill>
            <a:srgbClr val="320D1A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2487168" y="1024128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9A44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#1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2578608" y="175564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/ LLMs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citados pelos profissionais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00016" y="960120"/>
            <a:ext cx="2011680" cy="1417320"/>
          </a:xfrm>
          <a:prstGeom prst="roundRect">
            <a:avLst>
              <a:gd name="adj" fmla="val 3871"/>
            </a:avLst>
          </a:prstGeom>
          <a:solidFill>
            <a:srgbClr val="320D1A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 txBox="1"/>
          <p:nvPr/>
        </p:nvSpPr>
        <p:spPr>
          <a:xfrm>
            <a:off x="4700016" y="1024128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ADE8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3x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791456" y="175564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na adoção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IA generativa (2022→2023)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912864" y="960120"/>
            <a:ext cx="2011680" cy="1417320"/>
          </a:xfrm>
          <a:prstGeom prst="roundRect">
            <a:avLst>
              <a:gd name="adj" fmla="val 3871"/>
            </a:avLst>
          </a:prstGeom>
          <a:solidFill>
            <a:srgbClr val="320D1A"/>
          </a:solidFill>
          <a:ln w="12700">
            <a:solidFill>
              <a:srgbClr val="D97A8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 txBox="1"/>
          <p:nvPr/>
        </p:nvSpPr>
        <p:spPr>
          <a:xfrm>
            <a:off x="6912864" y="1024128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97A8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45%</a:t>
            </a:r>
            <a:endParaRPr lang="en-US" sz="3600" dirty="0"/>
          </a:p>
        </p:txBody>
      </p:sp>
      <p:sp>
        <p:nvSpPr>
          <p:cNvPr id="16" name="Text 14"/>
          <p:cNvSpPr txBox="1"/>
          <p:nvPr/>
        </p:nvSpPr>
        <p:spPr>
          <a:xfrm>
            <a:off x="7004304" y="175564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acreditam que IA irá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transformar sua função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274320" y="257860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os dados dizem sobre IA no mercado de dados: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2971800"/>
            <a:ext cx="2834640" cy="1920240"/>
          </a:xfrm>
          <a:prstGeom prst="roundRect">
            <a:avLst>
              <a:gd name="adj" fmla="val 2857"/>
            </a:avLst>
          </a:prstGeom>
          <a:solidFill>
            <a:srgbClr val="320D1A"/>
          </a:solidFill>
          <a:ln w="6350">
            <a:solidFill>
              <a:srgbClr val="7B1E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274320" y="2971800"/>
            <a:ext cx="2834640" cy="292608"/>
          </a:xfrm>
          <a:prstGeom prst="rect">
            <a:avLst/>
          </a:prstGeom>
          <a:solidFill>
            <a:srgbClr val="7B1E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 txBox="1"/>
          <p:nvPr/>
        </p:nvSpPr>
        <p:spPr>
          <a:xfrm>
            <a:off x="411480" y="299008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 de tarefas repetitivas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384048" y="3337560"/>
            <a:ext cx="254203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Limpeza de dados, geração de código SQL, documentação — profissionais reportam ganho de produtividade de 2–3x em tarefas rotineiras com ferramentas de IA.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46120" y="2971800"/>
            <a:ext cx="2834640" cy="1920240"/>
          </a:xfrm>
          <a:prstGeom prst="roundRect">
            <a:avLst>
              <a:gd name="adj" fmla="val 2857"/>
            </a:avLst>
          </a:prstGeom>
          <a:solidFill>
            <a:srgbClr val="320D1A"/>
          </a:solidFill>
          <a:ln w="6350">
            <a:solidFill>
              <a:srgbClr val="7B1E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3246120" y="2971800"/>
            <a:ext cx="2834640" cy="292608"/>
          </a:xfrm>
          <a:prstGeom prst="rect">
            <a:avLst/>
          </a:prstGeom>
          <a:solidFill>
            <a:srgbClr val="7B1E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 txBox="1"/>
          <p:nvPr/>
        </p:nvSpPr>
        <p:spPr>
          <a:xfrm>
            <a:off x="3383280" y="299008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perfil de profissional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3355848" y="3337560"/>
            <a:ext cx="254203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Cresce a demanda por quem sabe prompting, fine-tuning e integração de LLMs em pipelines de dados — habilidade rara e muito valorizada.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217920" y="2971800"/>
            <a:ext cx="2834640" cy="1920240"/>
          </a:xfrm>
          <a:prstGeom prst="roundRect">
            <a:avLst>
              <a:gd name="adj" fmla="val 2857"/>
            </a:avLst>
          </a:prstGeom>
          <a:solidFill>
            <a:srgbClr val="320D1A"/>
          </a:solidFill>
          <a:ln w="6350">
            <a:solidFill>
              <a:srgbClr val="7B1E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6217920" y="2971800"/>
            <a:ext cx="2834640" cy="292608"/>
          </a:xfrm>
          <a:prstGeom prst="rect">
            <a:avLst/>
          </a:prstGeom>
          <a:solidFill>
            <a:srgbClr val="7B1E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 txBox="1"/>
          <p:nvPr/>
        </p:nvSpPr>
        <p:spPr>
          <a:xfrm>
            <a:off x="6355080" y="299008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percebido mas gerenciado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6327648" y="3337560"/>
            <a:ext cx="254203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 acreditam em transformação de funções, não em extinção. A maioria vê IA como amplificador, não substituto do profissional de dados.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Data Brasil 2023 · Data Hackers + Bain &amp; Company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7B1E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274320" y="73152"/>
            <a:ext cx="8595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Recomendações Estratégicas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585216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 Instituição Financeira expandir em Dados, Analytics e IA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896112"/>
            <a:ext cx="8595360" cy="713232"/>
          </a:xfrm>
          <a:prstGeom prst="roundRect">
            <a:avLst>
              <a:gd name="adj" fmla="val 7692"/>
            </a:avLst>
          </a:prstGeom>
          <a:solidFill>
            <a:srgbClr val="320D1A"/>
          </a:solidFill>
          <a:ln w="762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347472" y="987552"/>
            <a:ext cx="566928" cy="530352"/>
          </a:xfrm>
          <a:prstGeom prst="roundRect">
            <a:avLst>
              <a:gd name="adj" fmla="val 10345"/>
            </a:avLst>
          </a:prstGeom>
          <a:solidFill>
            <a:srgbClr val="60A5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347472" y="1024128"/>
            <a:ext cx="5669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A0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98755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 SQL como base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1280160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contratação e capacitação deve ter Python e SQL como requisito mínimo — linguagens usadas por +80% dos profissionais em 2023.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700784"/>
            <a:ext cx="8595360" cy="713232"/>
          </a:xfrm>
          <a:prstGeom prst="roundRect">
            <a:avLst>
              <a:gd name="adj" fmla="val 7692"/>
            </a:avLst>
          </a:prstGeom>
          <a:solidFill>
            <a:srgbClr val="320D1A"/>
          </a:solidFill>
          <a:ln w="762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347472" y="1792224"/>
            <a:ext cx="566928" cy="530352"/>
          </a:xfrm>
          <a:prstGeom prst="roundRect">
            <a:avLst>
              <a:gd name="adj" fmla="val 10345"/>
            </a:avLst>
          </a:prstGeom>
          <a:solidFill>
            <a:srgbClr val="4ADE8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 txBox="1"/>
          <p:nvPr/>
        </p:nvSpPr>
        <p:spPr>
          <a:xfrm>
            <a:off x="347472" y="1828800"/>
            <a:ext cx="5669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A0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179222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Trilhas de carreira estruturadas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084832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plano de carreira Júnior → Pleno → Sênior com faixas salariais claras. O gap de 3x entre níveis é referência de mercado.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505456"/>
            <a:ext cx="8595360" cy="713232"/>
          </a:xfrm>
          <a:prstGeom prst="roundRect">
            <a:avLst>
              <a:gd name="adj" fmla="val 7692"/>
            </a:avLst>
          </a:prstGeom>
          <a:solidFill>
            <a:srgbClr val="320D1A"/>
          </a:solidFill>
          <a:ln w="762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347472" y="2596896"/>
            <a:ext cx="566928" cy="530352"/>
          </a:xfrm>
          <a:prstGeom prst="roundRect">
            <a:avLst>
              <a:gd name="adj" fmla="val 10345"/>
            </a:avLst>
          </a:prstGeom>
          <a:solidFill>
            <a:srgbClr val="D9A44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347472" y="2633472"/>
            <a:ext cx="5669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A0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259689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híbrido como padrão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2889504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Adotar modelo híbrido flexível como política permanente. Exigir 100% presencial está associado ao maior índice de turnover no setor.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3310128"/>
            <a:ext cx="8595360" cy="713232"/>
          </a:xfrm>
          <a:prstGeom prst="roundRect">
            <a:avLst>
              <a:gd name="adj" fmla="val 7692"/>
            </a:avLst>
          </a:prstGeom>
          <a:solidFill>
            <a:srgbClr val="320D1A"/>
          </a:solidFill>
          <a:ln w="7620">
            <a:solidFill>
              <a:srgbClr val="D97A8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347472" y="3401568"/>
            <a:ext cx="566928" cy="530352"/>
          </a:xfrm>
          <a:prstGeom prst="roundRect">
            <a:avLst>
              <a:gd name="adj" fmla="val 10345"/>
            </a:avLst>
          </a:prstGeom>
          <a:solidFill>
            <a:srgbClr val="D97A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 txBox="1"/>
          <p:nvPr/>
        </p:nvSpPr>
        <p:spPr>
          <a:xfrm>
            <a:off x="347472" y="3438144"/>
            <a:ext cx="5669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A0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340156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diversidade e inclusão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051560" y="3694176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cotas e trilhas para mulheres e profissionais negros. A sub-representação é expressiva — empresas diversas inovam mais.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4114800"/>
            <a:ext cx="8595360" cy="713232"/>
          </a:xfrm>
          <a:prstGeom prst="roundRect">
            <a:avLst>
              <a:gd name="adj" fmla="val 7692"/>
            </a:avLst>
          </a:prstGeom>
          <a:solidFill>
            <a:srgbClr val="320D1A"/>
          </a:solidFill>
          <a:ln w="762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347472" y="4206240"/>
            <a:ext cx="566928" cy="530352"/>
          </a:xfrm>
          <a:prstGeom prst="roundRect">
            <a:avLst>
              <a:gd name="adj" fmla="val 10345"/>
            </a:avLst>
          </a:prstGeom>
          <a:solidFill>
            <a:srgbClr val="34D39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 txBox="1"/>
          <p:nvPr/>
        </p:nvSpPr>
        <p:spPr>
          <a:xfrm>
            <a:off x="347472" y="4242816"/>
            <a:ext cx="5669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A0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051560" y="420624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Capacitação em IA generativa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1051560" y="4498848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Investir em treinamentos de LLMs, ChatGPT e integração com pipelines de dados. Quem treinar primeiro terá vantagem competitiva.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7B1E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274320" y="91440"/>
            <a:ext cx="8595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13232"/>
            <a:ext cx="2011680" cy="1188720"/>
          </a:xfrm>
          <a:prstGeom prst="roundRect">
            <a:avLst>
              <a:gd name="adj" fmla="val 4615"/>
            </a:avLst>
          </a:prstGeom>
          <a:solidFill>
            <a:srgbClr val="3D0F1E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274320" y="786384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60A5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+12k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1463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respondentes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analisados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487168" y="713232"/>
            <a:ext cx="2011680" cy="1188720"/>
          </a:xfrm>
          <a:prstGeom prst="roundRect">
            <a:avLst>
              <a:gd name="adj" fmla="val 4615"/>
            </a:avLst>
          </a:prstGeom>
          <a:solidFill>
            <a:srgbClr val="3D0F1E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2487168" y="786384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9A44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2578608" y="1463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anos de dados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· 2022 · 2023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700016" y="713232"/>
            <a:ext cx="2011680" cy="1188720"/>
          </a:xfrm>
          <a:prstGeom prst="roundRect">
            <a:avLst>
              <a:gd name="adj" fmla="val 4615"/>
            </a:avLst>
          </a:prstGeom>
          <a:solidFill>
            <a:srgbClr val="3D0F1E"/>
          </a:solidFill>
          <a:ln w="12700">
            <a:solidFill>
              <a:srgbClr val="D97A8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4700016" y="786384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97A8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24.4%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4791456" y="1463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mulheres em 2023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(+31% em 3 anos)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912864" y="713232"/>
            <a:ext cx="2011680" cy="1188720"/>
          </a:xfrm>
          <a:prstGeom prst="roundRect">
            <a:avLst>
              <a:gd name="adj" fmla="val 4615"/>
            </a:avLst>
          </a:prstGeom>
          <a:solidFill>
            <a:srgbClr val="3D0F1E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6912864" y="786384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4ADE8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~3x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7004304" y="1463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salarial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Júnior → Sênior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274320" y="202996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Conclusões: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2450592"/>
            <a:ext cx="45720" cy="329184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 txBox="1"/>
          <p:nvPr/>
        </p:nvSpPr>
        <p:spPr>
          <a:xfrm>
            <a:off x="438912" y="242316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brasileiro de dados em forte crescimento — todas as senioridades expandiram em 3 anos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2944368"/>
            <a:ext cx="45720" cy="329184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 txBox="1"/>
          <p:nvPr/>
        </p:nvSpPr>
        <p:spPr>
          <a:xfrm>
            <a:off x="438912" y="2916936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 de Dados e Engenheiro de Dados são os perfis mais demandados — Python e SQL são obrigatórios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3438144"/>
            <a:ext cx="45720" cy="329184"/>
          </a:xfrm>
          <a:prstGeom prst="rect">
            <a:avLst/>
          </a:prstGeom>
          <a:solidFill>
            <a:srgbClr val="D97A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 txBox="1"/>
          <p:nvPr/>
        </p:nvSpPr>
        <p:spPr>
          <a:xfrm>
            <a:off x="438912" y="341071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Diversidade de gênero cresce (+31%), mas ainda representa apenas 1 em cada 4 profissionais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3931920"/>
            <a:ext cx="45720" cy="329184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 txBox="1"/>
          <p:nvPr/>
        </p:nvSpPr>
        <p:spPr>
          <a:xfrm>
            <a:off x="438912" y="390448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remoto/híbrido é padrão no setor — exigir presencial é o maior gatilho de turnover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4425696"/>
            <a:ext cx="45720" cy="329184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 txBox="1"/>
          <p:nvPr/>
        </p:nvSpPr>
        <p:spPr>
          <a:xfrm>
            <a:off x="438912" y="4398264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generativa está transformando funções — capacitar equipes agora é vantagem competitiva real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B1E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 txBox="1"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Fase 3  ·  Big Data to Analytics  ·  POSTECH  ·  Setembro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1133</Words>
  <Application>Microsoft Office PowerPoint</Application>
  <PresentationFormat>Apresentação na tela (16:9)</PresentationFormat>
  <Paragraphs>180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Willian Luiz Mauricio de Almeida</cp:lastModifiedBy>
  <cp:revision>2</cp:revision>
  <dcterms:created xsi:type="dcterms:W3CDTF">2026-09-17T00:20:28Z</dcterms:created>
  <dcterms:modified xsi:type="dcterms:W3CDTF">2026-09-17T00:27:14Z</dcterms:modified>
</cp:coreProperties>
</file>