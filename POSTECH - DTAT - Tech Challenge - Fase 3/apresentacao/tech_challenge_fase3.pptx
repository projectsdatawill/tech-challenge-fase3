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734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36576" cy="51435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411480" y="54864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 OF DATA BRASIL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6187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 Mercado Brasileiro de Dados, Analytics e Inteligência Artificial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8412480" cy="2286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411480" y="1920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3  ·  Big Data to Analytics  ·  POSTECH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02920" y="24505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3 anos de dados (2021–2023)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7968" y="24231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409408" y="24505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Pipeline AWS: S3 · Glue · Athena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04857" y="24231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296297" y="24505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Arquitetura Bronze → Silver → Gold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99232"/>
            <a:ext cx="36576" cy="2286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566928" y="2962656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dos profissionais de tecnologia e dados no Brasil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355848"/>
            <a:ext cx="36576" cy="2286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566928" y="33192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de remuneração, senioridade e modelo de trabalho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712464"/>
            <a:ext cx="36576" cy="2286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566928" y="367588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de gênero e racial no mercado de dados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069080"/>
            <a:ext cx="36576" cy="2286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566928" y="4032504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Inteligência Artificial e impacto na carreira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425696"/>
            <a:ext cx="36576" cy="2286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566928" y="438912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estratégicas para contratação e capacitação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Objetivo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analisar o mercado de dados brasileiro?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206240" cy="3977640"/>
          </a:xfrm>
          <a:prstGeom prst="roundRect">
            <a:avLst>
              <a:gd name="adj" fmla="val 1379"/>
            </a:avLst>
          </a:prstGeom>
          <a:solidFill>
            <a:srgbClr val="320D1A"/>
          </a:solidFill>
          <a:ln w="1270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2286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57200" y="146304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 Financeira de grande porte com planos de expansão em Dados, Analytics e IA.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Necessidades identificadas: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Definir estratégia de contratação de profissionais de dados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programa de capacitação alinhado ao mercado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Priorizar investimentos em tecnologias com maior adoção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Entender gaps de diversidade e oportunidades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32688"/>
            <a:ext cx="4206240" cy="3977640"/>
          </a:xfrm>
          <a:prstGeom prst="roundRect">
            <a:avLst>
              <a:gd name="adj" fmla="val 1379"/>
            </a:avLst>
          </a:prstGeom>
          <a:solidFill>
            <a:srgbClr val="320D1A"/>
          </a:solidFill>
          <a:ln w="1270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 de Dados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840480" cy="22860"/>
          </a:xfrm>
          <a:prstGeom prst="rect">
            <a:avLst/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846320" y="150876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7B1E3A"/>
          </a:solidFill>
          <a:ln w="635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4846320" y="154533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+12k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025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03720" y="150876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7B1E3A"/>
          </a:solidFill>
          <a:ln w="635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903720" y="154533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0025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analisadas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46320" y="251460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7B1E3A"/>
          </a:solidFill>
          <a:ln w="635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4846320" y="255117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50+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008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por respondente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03720" y="251460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7B1E3A"/>
          </a:solidFill>
          <a:ln w="635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6903720" y="255117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008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públicos (Kaggle)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429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Hackers + Bain &amp; Company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anual com profissionais de Dados sobre: cargo, salário, tecnologias, senioridade, diversidade, modelo de trabalho e adoção de IA.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Edições: 2021 · 2022 · 2023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 AWS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 ingestão → Bronze → Silver → Gold → consumo analítico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355080" y="96012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2700">
            <a:solidFill>
              <a:srgbClr val="9E8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492240" y="1014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28930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brutos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original do Kaggle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355080" y="1947672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270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6492240" y="2002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2768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limpos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consolidado 2021–2023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355080" y="2935224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6492240" y="2990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2644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 analíticas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por tema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55080" y="3922776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649224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42519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+ insights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AWS utilizados: Amazon S3 · AWS Glue (Crawler + Jobs PySpark) · Amazon Athena · AWS Glue Data Catalog</a:t>
            </a:r>
            <a:endParaRPr lang="en-US" sz="750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0C16DFEA-6630-6570-887D-010E7E95D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382" y="937260"/>
            <a:ext cx="3801291" cy="38541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Mercado de Dados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cargos — evolução 2021 e 2022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6074229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896112"/>
            <a:ext cx="2377440" cy="4069080"/>
          </a:xfrm>
          <a:prstGeom prst="roundRect">
            <a:avLst>
              <a:gd name="adj" fmla="val 2308"/>
            </a:avLst>
          </a:prstGeom>
          <a:solidFill>
            <a:srgbClr val="320D1A"/>
          </a:solidFill>
          <a:ln w="1016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675120" y="1005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Destaques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75120" y="1298448"/>
            <a:ext cx="2103120" cy="18288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67512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Analista de Dados lidera em 2022 (+97%)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9751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Engineer cresce 63% em 1 ano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5786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 Engineer surge como novo perfil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31821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Cientista de Dados mantém alta demanda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7856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Engineer ainda é nicho especializado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2021–2022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Senioridade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mercado entre 2021 e 2023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59893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896112"/>
            <a:ext cx="2377440" cy="4069080"/>
          </a:xfrm>
          <a:prstGeom prst="roundRect">
            <a:avLst>
              <a:gd name="adj" fmla="val 2308"/>
            </a:avLst>
          </a:prstGeom>
          <a:solidFill>
            <a:srgbClr val="320D1A"/>
          </a:solidFill>
          <a:ln w="1016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675120" y="1005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Destaques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75120" y="1298448"/>
            <a:ext cx="2103120" cy="18288"/>
          </a:xfrm>
          <a:prstGeom prst="rect">
            <a:avLst/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67512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Mercado cresceu ~70% entre 2021 e 2023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9751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Sênior ultrapassa Pleno em 2023 pela 1ª vez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5786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Júnior cresceu +69% de 2021 para 2022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31821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Mercado amadurecendo rapidamente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7856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Alta demanda em todos os níveis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2021–2023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Remuneração por Senioridade — 2023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salariais por nível de experiência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6074229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896112"/>
            <a:ext cx="2377440" cy="4069080"/>
          </a:xfrm>
          <a:prstGeom prst="roundRect">
            <a:avLst>
              <a:gd name="adj" fmla="val 2308"/>
            </a:avLst>
          </a:prstGeom>
          <a:solidFill>
            <a:srgbClr val="320D1A"/>
          </a:solidFill>
          <a:ln w="1016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675120" y="1005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Destaques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75120" y="1298448"/>
            <a:ext cx="2103120" cy="1828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67512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Júnior: mediana entre R$2–6k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9751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Pleno: concentração em R$6–12k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5786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Sênior: foco em R$8–16k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31821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Gap Júnior → Sênior: ~3x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7856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Sênior pode superar R$40k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— Linguagens de Programação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entre profissionais de dados (2021–2023)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6048103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896112"/>
            <a:ext cx="2377440" cy="4069080"/>
          </a:xfrm>
          <a:prstGeom prst="roundRect">
            <a:avLst>
              <a:gd name="adj" fmla="val 2308"/>
            </a:avLst>
          </a:prstGeom>
          <a:solidFill>
            <a:srgbClr val="320D1A"/>
          </a:solidFill>
          <a:ln w="1016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675120" y="1005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Destaques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75120" y="1298448"/>
            <a:ext cx="2103120" cy="18288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67512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Python: líder absoluto (+56% do mercado)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9751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SQL: essencial — usado por +59%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5786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+ SQL usados por ~90% dos profissionais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31821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 perde espaço para Python gradualmente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7856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 e Java — nichos de Engenharia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2021–2023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— Cloud e Ferramentas de BI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adoção de plataformas Cloud e ferramentas de visualização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4206240" cy="23408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73552"/>
            <a:ext cx="4206240" cy="1645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63440" y="896112"/>
            <a:ext cx="4206240" cy="2560320"/>
          </a:xfrm>
          <a:prstGeom prst="roundRect">
            <a:avLst>
              <a:gd name="adj" fmla="val 2143"/>
            </a:avLst>
          </a:prstGeom>
          <a:solidFill>
            <a:srgbClr val="320D1A"/>
          </a:solidFill>
          <a:ln w="1016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 txBox="1"/>
          <p:nvPr/>
        </p:nvSpPr>
        <p:spPr>
          <a:xfrm>
            <a:off x="4800600" y="987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800600" y="1280160"/>
            <a:ext cx="3931920" cy="18288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4800600" y="13716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lidera em 2021 e 2022 (30% dos prof.)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800600" y="184708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dispara em 2023 (+180%) — tendência corporativa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232257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GCP cresce consistentemente — favorito em dados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800600" y="27980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 2023 Azure (29%) quase iguala AWS (21%)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63440" y="3520440"/>
            <a:ext cx="4206240" cy="1508760"/>
          </a:xfrm>
          <a:prstGeom prst="roundRect">
            <a:avLst>
              <a:gd name="adj" fmla="val 3636"/>
            </a:avLst>
          </a:prstGeom>
          <a:solidFill>
            <a:srgbClr val="320D1A"/>
          </a:solidFill>
          <a:ln w="1016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 txBox="1"/>
          <p:nvPr/>
        </p:nvSpPr>
        <p:spPr>
          <a:xfrm>
            <a:off x="4800600" y="3611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Business Intelligence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00600" y="3904488"/>
            <a:ext cx="3931920" cy="18288"/>
          </a:xfrm>
          <a:prstGeom prst="rect">
            <a:avLst/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 txBox="1"/>
          <p:nvPr/>
        </p:nvSpPr>
        <p:spPr>
          <a:xfrm>
            <a:off x="4800600" y="39776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 BI domina com 41% em 2023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4800600" y="43251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Tableau cresce mas permanece nicho (13%)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800600" y="467258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Data Studio cresce para 12% em 2023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2021–2023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Inteligência Artificial Generativa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ChatGPT e LLMs entre profissionais de dados — 2023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6400800" cy="285945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866609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320D1A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274320" y="3912329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80.3%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424393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 IA 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 forma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487168" y="3866609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320D1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2487168" y="3912329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60.2%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578608" y="4424393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 IA gratuita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(grátis)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00016" y="3866609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320D1A"/>
          </a:solidFill>
          <a:ln w="1270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4700016" y="3912329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19.7%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791456" y="4424393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912864" y="3866609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320D1A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6912864" y="3912329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A4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2023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7004304" y="4424393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ano com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IA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 · Data Hackers + Bain &amp; Company · Dados de IA disponíveis apenas a partir de 2023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de Gênero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participação feminina no mercado de dados (2021–2023)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61264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896112"/>
            <a:ext cx="237744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537960" y="96926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18.6%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em 2021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537960" y="2176272"/>
            <a:ext cx="237744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6537960" y="224942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A4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24.4%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em 2023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537960" y="3456432"/>
            <a:ext cx="237744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6537960" y="352958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+31%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em 3 anos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2021–2023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Racial — 2023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cor/raça/etnia entre profissionais de dados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61264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896112"/>
            <a:ext cx="2377440" cy="4069080"/>
          </a:xfrm>
          <a:prstGeom prst="roundRect">
            <a:avLst>
              <a:gd name="adj" fmla="val 2308"/>
            </a:avLst>
          </a:prstGeom>
          <a:solidFill>
            <a:srgbClr val="320D1A"/>
          </a:solidFill>
          <a:ln w="1016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675120" y="1005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Destaques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75120" y="1298448"/>
            <a:ext cx="2103120" cy="18288"/>
          </a:xfrm>
          <a:prstGeom prst="rect">
            <a:avLst/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67512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Brancos: ~59% dos respondentes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9751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Pardos: ~27% — crescendo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5786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Pretos: ~8% — sub-representados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31821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Brasil pop. negra: ~56% (IBGE)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7856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Gap significativo vs. população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Trabalho — Pós-Pandemia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de dados como pioneiros do trabalho remoto em 2021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96112"/>
            <a:ext cx="48463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32120" y="896112"/>
            <a:ext cx="333756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016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5577840" y="96926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60%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10528" y="1005840"/>
            <a:ext cx="27432" cy="566928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601968" y="100584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trabalhavam 100% remoto em 2021 — pioneiros no mercado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32120" y="1883664"/>
            <a:ext cx="333756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016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5577840" y="195681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A4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21%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510528" y="1993392"/>
            <a:ext cx="27432" cy="566928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6601968" y="19933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modelo híbrido flexível — já adotavam antes de virar tendência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32120" y="2871216"/>
            <a:ext cx="333756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016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5577840" y="294436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15%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6510528" y="2980944"/>
            <a:ext cx="27432" cy="566928"/>
          </a:xfrm>
          <a:prstGeom prst="rect">
            <a:avLst/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6601968" y="298094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presencial — menor percentual de qualquer setor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32120" y="3858768"/>
            <a:ext cx="3337560" cy="868680"/>
          </a:xfrm>
          <a:prstGeom prst="roundRect">
            <a:avLst>
              <a:gd name="adj" fmla="val 6316"/>
            </a:avLst>
          </a:prstGeom>
          <a:solidFill>
            <a:srgbClr val="320D1A"/>
          </a:solidFill>
          <a:ln w="1016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5577840" y="393192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#1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6510528" y="3968496"/>
            <a:ext cx="27432" cy="56692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6601968" y="396849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ao presencial é o principal motivo de insatisfação e pedido de demissão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2021 · Data Hackers + Bain &amp; Company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731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Estratégicas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Instituição Financeira expandir em Dados, Analytics e IA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320D1A"/>
          </a:solidFill>
          <a:ln w="762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47472" y="1024128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9875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 SQL como base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2801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contratação e capacitação deve ter Python e SQL como requisito mínimo — linguagens usadas por +80% dos profissionais em 2023.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700784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320D1A"/>
          </a:solidFill>
          <a:ln w="762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47472" y="1792224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347472" y="1828800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17922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de carreira estruturadas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08483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plano de carreira Júnior → Pleno → Sênior com faixas salariais claras. O gap de 3x entre níveis é referência de mercado.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05456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320D1A"/>
          </a:solidFill>
          <a:ln w="762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47472" y="2596896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347472" y="2633472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5968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híbrido como padrão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88950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Adotar modelo híbrido flexível como política permanente. Exigir 100% presencial está associado ao maior índice de turnover no setor.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310128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320D1A"/>
          </a:solidFill>
          <a:ln w="762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47472" y="3401568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347472" y="3438144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4015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diversidade e inclusão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69417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cotas e trilhas para mulheres e profissionais negros. A sub-representação é expressiva — empresas diversas inovam mais.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320D1A"/>
          </a:solidFill>
          <a:ln w="762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47472" y="4206240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347472" y="4242816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4206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em IA generativa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449884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dos profissionais já usam IA. Estruturar o uso com LLMs, copilots e ferramentas pagas antes da concorrência.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274320" y="78638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+12k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87168" y="713232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2487168" y="78638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A44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578608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dados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· 2022 · 2023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0016" y="713232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700016" y="78638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791456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usam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12864" y="713232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3D0F1E"/>
          </a:solidFill>
          <a:ln w="12700">
            <a:solidFill>
              <a:srgbClr val="D97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912864" y="78638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~3x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004304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salarial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Júnior → Sênior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20299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Conclusões: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450592"/>
            <a:ext cx="45720" cy="329184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438912" y="24231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em forte crescimento — Python e SQL dominam, com 80%+ de adoção em todos os anos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45720" cy="32918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438912" y="291693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Dados e Engenheiro de Dados são os perfis mais demandados — mercado amadurecendo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438144"/>
            <a:ext cx="45720" cy="329184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438912" y="34107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dos profissionais já usam IA generativa — Azure cresce 180% em 2023, disputando liderança cloud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45720" cy="329184"/>
          </a:xfrm>
          <a:prstGeom prst="rect">
            <a:avLst/>
          </a:prstGeom>
          <a:solidFill>
            <a:srgbClr val="D97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438912" y="390448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de gênero cresce (+31%), mas ainda 3 em cada 4 profissionais são homens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425696"/>
            <a:ext cx="45720" cy="32918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438912" y="439826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remoto/híbrido é padrão no setor — exigir presencial é o maior gatilho de turnover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E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 ·  Big Data to Analytics  ·  POSTECH  ·  Setembro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1219</Words>
  <Application>Microsoft Office PowerPoint</Application>
  <PresentationFormat>Apresentação na tela (16:9)</PresentationFormat>
  <Paragraphs>195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Willian Luiz Mauricio de Almeida</cp:lastModifiedBy>
  <cp:revision>3</cp:revision>
  <dcterms:created xsi:type="dcterms:W3CDTF">2026-09-17T00:40:26Z</dcterms:created>
  <dcterms:modified xsi:type="dcterms:W3CDTF">2026-09-17T00:46:07Z</dcterms:modified>
</cp:coreProperties>
</file>